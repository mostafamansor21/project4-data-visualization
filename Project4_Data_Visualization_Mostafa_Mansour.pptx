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8" r:id="rId2"/>
    <p:sldId id="259" r:id="rId3"/>
    <p:sldId id="260" r:id="rId4"/>
    <p:sldId id="261" r:id="rId5"/>
    <p:sldId id="262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9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B01E1-3864-903E-CC7F-5918DF28D9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4584D1-7789-D0EF-DC31-261426F649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577FA8-BFCD-F2F0-F7E9-565943483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4FC2C-2A35-46C9-A92F-F9AC295E92D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9548DE-5C3E-D202-9C8E-EF299C2A1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AD341-77FD-A2F6-F57C-2E9B2867C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A28C1-B7EA-4985-84BB-C239A45C9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548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7EC92-3229-53CA-D67C-42CF3CF9F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6C50AC-9DBD-2F77-998A-E5E0F43D19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E3DCCA-66DF-1497-D8A0-59E14614D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4FC2C-2A35-46C9-A92F-F9AC295E92D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4AA965-BA84-8F53-493A-E5F28E599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4C61D-6D56-553A-7628-6317A2776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A28C1-B7EA-4985-84BB-C239A45C9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352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2E84A-9BBB-0B06-1ADA-8B254B28E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423EDF-43B3-CDFB-DA6F-37D85C3CDE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DEB87-3B6D-085F-F49E-91386DBED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4FC2C-2A35-46C9-A92F-F9AC295E92D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11626A-D85C-D990-3BF7-1A11FCEF6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A306CD-F04F-C7CE-0F32-C634426E9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A28C1-B7EA-4985-84BB-C239A45C9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176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592A1-F6B9-346E-B169-5D01D9B07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7005B-20E4-AECB-1DF9-E7E6C955F7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11796A-FE9C-636C-B33B-54893A4624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3A0FD5-D434-9758-DC48-C41BF4AAB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4FC2C-2A35-46C9-A92F-F9AC295E92D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7E443B-E0EA-34BD-6CE9-D68274C43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9D7EFB-3054-E1DC-0746-238654196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A28C1-B7EA-4985-84BB-C239A45C9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35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68C82-4DFC-CCDC-B0EE-9EF1739F8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C96972-B424-8325-C259-267F64B7BC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4820F3-9884-FDDC-F6DA-0B860B0EE2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C9BA7D-12DD-8476-12AF-CFAB4B444E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4387B7-1914-7D0D-215E-A9E009FD6D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E48FEF-1FDD-A1CB-0261-6427D2A0E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4FC2C-2A35-46C9-A92F-F9AC295E92D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36A077-4E01-6679-A543-6C8410151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B049BA-C33E-A268-7AB8-2868B8CE1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A28C1-B7EA-4985-84BB-C239A45C9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87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99BAD-B429-5A18-0314-7355CD24F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C07F42-15B3-3B6A-C636-0D08A0A7C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4FC2C-2A35-46C9-A92F-F9AC295E92D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4892BE-B1F0-3C9B-5004-C0FEEABCB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C24FA3-FEB3-79A5-2B88-6D32D8CF9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A28C1-B7EA-4985-84BB-C239A45C9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444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B0784A-E6CA-19FC-3A70-6D73E932B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4FC2C-2A35-46C9-A92F-F9AC295E92D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D4AF23-2F85-DCDF-E305-8841CA218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BDBD08-A610-F7DA-F01C-A4D04775B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A28C1-B7EA-4985-84BB-C239A45C9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009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8DE9C-1CF4-06AB-AE2F-7C5E9BB91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4D09F-7B04-0E42-3EE5-42CED9357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E116D3-6C93-0CD6-621C-9251C26F9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9C152E-AB1E-CB4F-0E0B-4AC9B8F7B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4FC2C-2A35-46C9-A92F-F9AC295E92D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3AC5EA-36EA-B970-509D-E01DEC9CB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61E942-A5D0-824A-E98F-B1350391D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A28C1-B7EA-4985-84BB-C239A45C9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687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39594-ACE4-167F-3F7D-AB62998ED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114E00-9AB2-D3A2-9EEB-3D198AF791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7340E3-0071-B0DE-E90E-84C9127C71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33C404-817B-DDC2-3EB0-AA38822DA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4FC2C-2A35-46C9-A92F-F9AC295E92D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51004B-3D8F-F00A-DEED-D5190490D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F6C22F-5D28-8478-F067-1FD300367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A28C1-B7EA-4985-84BB-C239A45C9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449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6C71E-7EA5-EF22-C4B3-F9031B380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214E0D-0F2C-387E-42C7-9F2CB06627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2A1119-8D62-2B26-C32F-5E692351B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4FC2C-2A35-46C9-A92F-F9AC295E92D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C1647D-D026-8122-1D8F-E961FDE55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5C3AFF-8CBA-5689-5AA8-E0B16BE8D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A28C1-B7EA-4985-84BB-C239A45C9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492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30A5C3-D1C1-9550-8F69-9032872D7D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CA652D-E69E-B37B-DE4B-A8215CF23B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AFA1B-F654-5864-1D0F-299C66DDF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4FC2C-2A35-46C9-A92F-F9AC295E92D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7ABDA1-2954-42E6-05FC-2558691D0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DF3F36-38AD-6BB0-40B7-1B09BBBC9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A28C1-B7EA-4985-84BB-C239A45C9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301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4CF842-6AB8-A912-20AA-208AE557D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2FEED0-52A6-22E4-ED44-AEF67C28AB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F561B4-4EDB-997B-7CBB-7A346F47C1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74FC2C-2A35-46C9-A92F-F9AC295E92D3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DE4E4B-3CED-A6B3-1F42-E83CB728FA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DA5CE1-972C-2A0A-D70A-FB072BF387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A28C1-B7EA-4985-84BB-C239A45C9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09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D556FF0-F2F5-7B9C-6995-D4F22F0319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7832" y="0"/>
            <a:ext cx="1724167" cy="1724167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AD9D8AE6-D74F-B25F-84DA-07A62B0A11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22285" y="40510"/>
            <a:ext cx="6487886" cy="2057735"/>
          </a:xfrm>
        </p:spPr>
        <p:txBody>
          <a:bodyPr>
            <a:normAutofit/>
          </a:bodyPr>
          <a:lstStyle/>
          <a:p>
            <a:r>
              <a:rPr lang="en-US" sz="4400" cap="none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Project 4: data visualization</a:t>
            </a:r>
            <a:br>
              <a:rPr lang="en-US" sz="4400" cap="none" dirty="0">
                <a:solidFill>
                  <a:schemeClr val="accent2">
                    <a:lumMod val="75000"/>
                  </a:schemeClr>
                </a:solidFill>
                <a:latin typeface="+mn-lt"/>
              </a:rPr>
            </a:br>
            <a:r>
              <a:rPr lang="en-US" sz="4400" cap="none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E- commerce sales analysis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F41A4C5E-921A-92C1-BD1C-F25E9329A3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22284" y="2302877"/>
            <a:ext cx="7228115" cy="875752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cap="none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Prepared by: Mostafa Mansour</a:t>
            </a:r>
          </a:p>
          <a:p>
            <a:pPr algn="ctr"/>
            <a:r>
              <a:rPr lang="en-US" cap="none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Decodelabs</a:t>
            </a:r>
            <a:r>
              <a:rPr lang="en-US" cap="none" dirty="0">
                <a:solidFill>
                  <a:schemeClr val="tx1">
                    <a:lumMod val="95000"/>
                    <a:lumOff val="5000"/>
                  </a:schemeClr>
                </a:solidFill>
              </a:rPr>
              <a:t> internships program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7034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C970F-AE76-B617-6595-40D5B3AC4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527CFF2-115E-3D8F-EBC9-D0A050873D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7832" y="0"/>
            <a:ext cx="1724167" cy="172416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56A4568-D592-2321-E747-FD867D906178}"/>
              </a:ext>
            </a:extLst>
          </p:cNvPr>
          <p:cNvSpPr txBox="1"/>
          <p:nvPr/>
        </p:nvSpPr>
        <p:spPr>
          <a:xfrm>
            <a:off x="3875314" y="214476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2">
                    <a:lumMod val="75000"/>
                  </a:schemeClr>
                </a:solidFill>
              </a:rPr>
              <a:t>Business Overview</a:t>
            </a:r>
            <a:endParaRPr lang="en-US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F4945A-D7D0-1507-CE01-66E8249F0D31}"/>
              </a:ext>
            </a:extLst>
          </p:cNvPr>
          <p:cNvSpPr txBox="1"/>
          <p:nvPr/>
        </p:nvSpPr>
        <p:spPr>
          <a:xfrm>
            <a:off x="508000" y="1401001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The business generated over 1.26M in revenue across 1,200 orders.</a:t>
            </a:r>
            <a:endParaRPr lang="en-US" sz="2000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59BDBC-072C-8B0E-D58A-36C0739378AD}"/>
              </a:ext>
            </a:extLst>
          </p:cNvPr>
          <p:cNvSpPr txBox="1"/>
          <p:nvPr/>
        </p:nvSpPr>
        <p:spPr>
          <a:xfrm>
            <a:off x="986972" y="22609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Total Revenue:</a:t>
            </a:r>
            <a:r>
              <a:rPr lang="en-US" dirty="0"/>
              <a:t> 1,264,761.96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0AA931-BDFE-E429-F7ED-0DBAE000E370}"/>
              </a:ext>
            </a:extLst>
          </p:cNvPr>
          <p:cNvSpPr txBox="1"/>
          <p:nvPr/>
        </p:nvSpPr>
        <p:spPr>
          <a:xfrm>
            <a:off x="986972" y="263032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Total Orders:</a:t>
            </a:r>
            <a:r>
              <a:rPr lang="en-US" dirty="0"/>
              <a:t> 1,200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7949DF-2CE9-1E02-2607-9704291BFBA6}"/>
              </a:ext>
            </a:extLst>
          </p:cNvPr>
          <p:cNvSpPr txBox="1"/>
          <p:nvPr/>
        </p:nvSpPr>
        <p:spPr>
          <a:xfrm>
            <a:off x="986972" y="299965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Average Order Value:</a:t>
            </a:r>
            <a:r>
              <a:rPr lang="en-US" dirty="0"/>
              <a:t> 1,053.97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A0CF1E-D489-1FAF-4C08-8AFC521B1EE0}"/>
              </a:ext>
            </a:extLst>
          </p:cNvPr>
          <p:cNvSpPr txBox="1"/>
          <p:nvPr/>
        </p:nvSpPr>
        <p:spPr>
          <a:xfrm>
            <a:off x="246743" y="3514737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Insight</a:t>
            </a:r>
            <a:r>
              <a:rPr lang="ar-EG" sz="2000" b="1" dirty="0">
                <a:solidFill>
                  <a:srgbClr val="00B050"/>
                </a:solidFill>
              </a:rPr>
              <a:t>:</a:t>
            </a:r>
            <a:endParaRPr lang="en-US" sz="2000" b="1" dirty="0">
              <a:solidFill>
                <a:srgbClr val="00B05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2A30F30-8976-27A1-C762-6D1918911E92}"/>
              </a:ext>
            </a:extLst>
          </p:cNvPr>
          <p:cNvSpPr txBox="1"/>
          <p:nvPr/>
        </p:nvSpPr>
        <p:spPr>
          <a:xfrm>
            <a:off x="246743" y="403617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business shows strong overall performance with a stable average order value.</a:t>
            </a:r>
          </a:p>
        </p:txBody>
      </p:sp>
    </p:spTree>
    <p:extLst>
      <p:ext uri="{BB962C8B-B14F-4D97-AF65-F5344CB8AC3E}">
        <p14:creationId xmlns:p14="http://schemas.microsoft.com/office/powerpoint/2010/main" val="2441511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214AD-912B-E24A-9B8C-AA6FF84CB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C2574C8-150A-C709-71EF-FEB6ED965F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7832" y="0"/>
            <a:ext cx="1724167" cy="172416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0C91323-A3B5-908F-5C7C-6E76DA94ADD8}"/>
              </a:ext>
            </a:extLst>
          </p:cNvPr>
          <p:cNvSpPr txBox="1"/>
          <p:nvPr/>
        </p:nvSpPr>
        <p:spPr>
          <a:xfrm>
            <a:off x="4513943" y="287048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2">
                    <a:lumMod val="75000"/>
                  </a:schemeClr>
                </a:solidFill>
              </a:rPr>
              <a:t>Sales Trend Analysis</a:t>
            </a:r>
            <a:endParaRPr lang="en-US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A93371-9685-A929-B864-74B30D65830E}"/>
              </a:ext>
            </a:extLst>
          </p:cNvPr>
          <p:cNvSpPr txBox="1"/>
          <p:nvPr/>
        </p:nvSpPr>
        <p:spPr>
          <a:xfrm>
            <a:off x="217714" y="126382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Sales consistently peak during May–June, indicating seasonal demand patterns.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D0F6D8D-6F29-3CCF-74C7-F84026FB20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6229" y="1983437"/>
            <a:ext cx="7895771" cy="27590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7B215D3-4AD1-C868-9829-4168D60DE83E}"/>
              </a:ext>
            </a:extLst>
          </p:cNvPr>
          <p:cNvSpPr txBox="1"/>
          <p:nvPr/>
        </p:nvSpPr>
        <p:spPr>
          <a:xfrm>
            <a:off x="217714" y="24485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Insight:</a:t>
            </a:r>
            <a:br>
              <a:rPr lang="en-US" dirty="0">
                <a:solidFill>
                  <a:srgbClr val="00B050"/>
                </a:solidFill>
              </a:rPr>
            </a:b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F47084-8557-F78B-0183-69AA40F9787F}"/>
              </a:ext>
            </a:extLst>
          </p:cNvPr>
          <p:cNvSpPr txBox="1"/>
          <p:nvPr/>
        </p:nvSpPr>
        <p:spPr>
          <a:xfrm>
            <a:off x="217714" y="2845468"/>
            <a:ext cx="407851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Revenue follows a clear seasonal pattern, with the highest performance during late spring and early summer.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62289D-51A8-8C0C-4558-5EC9D5E27467}"/>
              </a:ext>
            </a:extLst>
          </p:cNvPr>
          <p:cNvSpPr txBox="1"/>
          <p:nvPr/>
        </p:nvSpPr>
        <p:spPr>
          <a:xfrm>
            <a:off x="217713" y="3842531"/>
            <a:ext cx="37882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So What:</a:t>
            </a:r>
            <a:br>
              <a:rPr lang="en-US" dirty="0">
                <a:solidFill>
                  <a:srgbClr val="00B050"/>
                </a:solidFill>
              </a:rPr>
            </a:b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EE4A87-5ED9-CA77-28EF-BD6CDBA8CCFE}"/>
              </a:ext>
            </a:extLst>
          </p:cNvPr>
          <p:cNvSpPr txBox="1"/>
          <p:nvPr/>
        </p:nvSpPr>
        <p:spPr>
          <a:xfrm>
            <a:off x="217713" y="4275699"/>
            <a:ext cx="42962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Marketing efforts should be increased before peak months to maximize revenue.</a:t>
            </a:r>
          </a:p>
        </p:txBody>
      </p:sp>
    </p:spTree>
    <p:extLst>
      <p:ext uri="{BB962C8B-B14F-4D97-AF65-F5344CB8AC3E}">
        <p14:creationId xmlns:p14="http://schemas.microsoft.com/office/powerpoint/2010/main" val="3613779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E3028-40F7-3898-CF12-89C687373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DB12B4B-207F-5984-1E0B-FE40EB2A41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7832" y="0"/>
            <a:ext cx="1724167" cy="172416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EC35342-F2FC-9263-5B47-9D39DEB4004C}"/>
              </a:ext>
            </a:extLst>
          </p:cNvPr>
          <p:cNvSpPr txBox="1"/>
          <p:nvPr/>
        </p:nvSpPr>
        <p:spPr>
          <a:xfrm>
            <a:off x="4371832" y="338863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2">
                    <a:lumMod val="75000"/>
                  </a:schemeClr>
                </a:solidFill>
              </a:rPr>
              <a:t>Order Status Analysis</a:t>
            </a:r>
            <a:endParaRPr lang="en-US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8DC04D-C470-9CBD-A512-050A016CE9C9}"/>
              </a:ext>
            </a:extLst>
          </p:cNvPr>
          <p:cNvSpPr txBox="1"/>
          <p:nvPr/>
        </p:nvSpPr>
        <p:spPr>
          <a:xfrm>
            <a:off x="435428" y="1077836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Cancelled and returned orders highlight opportunities for operational improvement</a:t>
            </a:r>
            <a:r>
              <a:rPr lang="en-US" b="1" dirty="0"/>
              <a:t>.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D24947-0435-4BF5-7C9B-D9B25B3A1B51}"/>
              </a:ext>
            </a:extLst>
          </p:cNvPr>
          <p:cNvSpPr txBox="1"/>
          <p:nvPr/>
        </p:nvSpPr>
        <p:spPr>
          <a:xfrm>
            <a:off x="435428" y="2166034"/>
            <a:ext cx="442685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Insight:</a:t>
            </a:r>
            <a:br>
              <a:rPr lang="en-US" sz="2000" dirty="0">
                <a:solidFill>
                  <a:srgbClr val="00B050"/>
                </a:solidFill>
              </a:rPr>
            </a:br>
            <a:endParaRPr lang="en-US" sz="2000" dirty="0">
              <a:solidFill>
                <a:srgbClr val="00B05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0BF8449-1516-C190-07A6-4233466B6A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6149" y="1511118"/>
            <a:ext cx="6205851" cy="267366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752D2A7-4FFB-CC00-6894-074E6AD45C9D}"/>
              </a:ext>
            </a:extLst>
          </p:cNvPr>
          <p:cNvSpPr txBox="1"/>
          <p:nvPr/>
        </p:nvSpPr>
        <p:spPr>
          <a:xfrm>
            <a:off x="264389" y="2550754"/>
            <a:ext cx="442685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Order statuses are distributed across all stages, with a noticeable number of cancellations and returns.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3CFA74-5B99-AECF-1E5E-C585DB668F64}"/>
              </a:ext>
            </a:extLst>
          </p:cNvPr>
          <p:cNvSpPr txBox="1"/>
          <p:nvPr/>
        </p:nvSpPr>
        <p:spPr>
          <a:xfrm>
            <a:off x="435428" y="3592786"/>
            <a:ext cx="142240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So What:</a:t>
            </a:r>
            <a:br>
              <a:rPr lang="en-US" sz="2000" dirty="0">
                <a:solidFill>
                  <a:srgbClr val="00B050"/>
                </a:solidFill>
              </a:rPr>
            </a:br>
            <a:endParaRPr lang="en-US" sz="2000" dirty="0">
              <a:solidFill>
                <a:srgbClr val="00B05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321138-CC5B-C700-6013-D2C1DE2D8957}"/>
              </a:ext>
            </a:extLst>
          </p:cNvPr>
          <p:cNvSpPr txBox="1"/>
          <p:nvPr/>
        </p:nvSpPr>
        <p:spPr>
          <a:xfrm>
            <a:off x="264389" y="3971732"/>
            <a:ext cx="356738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Improving fulfillment processes can reduce lost revenue and improve customer satisfaction.</a:t>
            </a:r>
          </a:p>
        </p:txBody>
      </p:sp>
    </p:spTree>
    <p:extLst>
      <p:ext uri="{BB962C8B-B14F-4D97-AF65-F5344CB8AC3E}">
        <p14:creationId xmlns:p14="http://schemas.microsoft.com/office/powerpoint/2010/main" val="2641095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D6D7C-2C7B-8019-3C46-037B33741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FD3DADD-038E-BC53-1908-510EF40A8C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7832" y="0"/>
            <a:ext cx="1724167" cy="172416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FA69858-E0AE-163F-AB80-776A617AA782}"/>
              </a:ext>
            </a:extLst>
          </p:cNvPr>
          <p:cNvSpPr txBox="1"/>
          <p:nvPr/>
        </p:nvSpPr>
        <p:spPr>
          <a:xfrm>
            <a:off x="4542972" y="287048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2">
                    <a:lumMod val="75000"/>
                  </a:schemeClr>
                </a:solidFill>
              </a:rPr>
              <a:t>Payment Method Analysis</a:t>
            </a:r>
            <a:endParaRPr lang="en-US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D69C0E-794C-2046-3475-AF29BF4F2E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8287" y="1385730"/>
            <a:ext cx="5793714" cy="248958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356A704-8FEC-12B2-6523-32773E88589B}"/>
              </a:ext>
            </a:extLst>
          </p:cNvPr>
          <p:cNvSpPr txBox="1"/>
          <p:nvPr/>
        </p:nvSpPr>
        <p:spPr>
          <a:xfrm>
            <a:off x="145143" y="1064101"/>
            <a:ext cx="48647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Customers use a balanced mix of payment methods with no dominant option.</a:t>
            </a:r>
            <a:endParaRPr lang="en-US" sz="2000" dirty="0">
              <a:solidFill>
                <a:srgbClr val="00B05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EC2D81-1034-E856-231D-928DEB991B81}"/>
              </a:ext>
            </a:extLst>
          </p:cNvPr>
          <p:cNvSpPr txBox="1"/>
          <p:nvPr/>
        </p:nvSpPr>
        <p:spPr>
          <a:xfrm>
            <a:off x="145143" y="2061135"/>
            <a:ext cx="19013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Insight:</a:t>
            </a:r>
            <a:br>
              <a:rPr lang="en-US" sz="2000" dirty="0">
                <a:solidFill>
                  <a:srgbClr val="00B050"/>
                </a:solidFill>
              </a:rPr>
            </a:br>
            <a:endParaRPr lang="en-US" sz="2000" dirty="0">
              <a:solidFill>
                <a:srgbClr val="00B05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76D95E-F9E9-E932-BD38-29A50D74B797}"/>
              </a:ext>
            </a:extLst>
          </p:cNvPr>
          <p:cNvSpPr txBox="1"/>
          <p:nvPr/>
        </p:nvSpPr>
        <p:spPr>
          <a:xfrm>
            <a:off x="302287" y="2415078"/>
            <a:ext cx="307954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Payment preferences are evenly distributed across all available methods.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455D98-1704-8A0B-86A5-7E1153E1E412}"/>
              </a:ext>
            </a:extLst>
          </p:cNvPr>
          <p:cNvSpPr txBox="1"/>
          <p:nvPr/>
        </p:nvSpPr>
        <p:spPr>
          <a:xfrm>
            <a:off x="145143" y="3519594"/>
            <a:ext cx="1378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So What:</a:t>
            </a:r>
            <a:br>
              <a:rPr lang="en-US" dirty="0">
                <a:solidFill>
                  <a:srgbClr val="00B050"/>
                </a:solidFill>
              </a:rPr>
            </a:b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F8D505-5700-8921-6CCA-4DE571F98204}"/>
              </a:ext>
            </a:extLst>
          </p:cNvPr>
          <p:cNvSpPr txBox="1"/>
          <p:nvPr/>
        </p:nvSpPr>
        <p:spPr>
          <a:xfrm>
            <a:off x="145143" y="3885446"/>
            <a:ext cx="3657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Maintaining multiple payment options is important for customer convenience.</a:t>
            </a:r>
          </a:p>
        </p:txBody>
      </p:sp>
    </p:spTree>
    <p:extLst>
      <p:ext uri="{BB962C8B-B14F-4D97-AF65-F5344CB8AC3E}">
        <p14:creationId xmlns:p14="http://schemas.microsoft.com/office/powerpoint/2010/main" val="1323974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EB1F8-537B-5DCD-37BE-15BDBEAAC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32D3BDE-8103-54E4-4661-757E8FE68C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7832" y="0"/>
            <a:ext cx="1724167" cy="172416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C64EDD1-63A6-E474-3500-12E657CC5181}"/>
              </a:ext>
            </a:extLst>
          </p:cNvPr>
          <p:cNvSpPr txBox="1"/>
          <p:nvPr/>
        </p:nvSpPr>
        <p:spPr>
          <a:xfrm>
            <a:off x="3410857" y="237263"/>
            <a:ext cx="5617029" cy="5319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2">
                    <a:lumMod val="75000"/>
                  </a:schemeClr>
                </a:solidFill>
              </a:rPr>
              <a:t>Conclusion &amp; Recommendations</a:t>
            </a:r>
            <a:endParaRPr lang="en-US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C27D8E-7A9A-6C71-7901-04AB522A62D2}"/>
              </a:ext>
            </a:extLst>
          </p:cNvPr>
          <p:cNvSpPr txBox="1"/>
          <p:nvPr/>
        </p:nvSpPr>
        <p:spPr>
          <a:xfrm>
            <a:off x="406400" y="1143390"/>
            <a:ext cx="28593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Key Findings</a:t>
            </a:r>
            <a:r>
              <a:rPr lang="ar-EG" sz="2000" b="1" dirty="0">
                <a:solidFill>
                  <a:srgbClr val="00B050"/>
                </a:solidFill>
              </a:rPr>
              <a:t>:</a:t>
            </a:r>
            <a:endParaRPr lang="en-US" sz="2000" b="1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D49829-E5E5-596A-26C6-DEB098BDB0A3}"/>
              </a:ext>
            </a:extLst>
          </p:cNvPr>
          <p:cNvSpPr txBox="1"/>
          <p:nvPr/>
        </p:nvSpPr>
        <p:spPr>
          <a:xfrm>
            <a:off x="290286" y="1543500"/>
            <a:ext cx="534125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Revenue exceeded 1.26M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Clear seasonal sales pattern (May–June peak)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Balanced payment behavior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Noticeable cancellations and returns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B186DD-BB6B-168B-B85C-E0A7DB0F35A4}"/>
              </a:ext>
            </a:extLst>
          </p:cNvPr>
          <p:cNvSpPr txBox="1"/>
          <p:nvPr/>
        </p:nvSpPr>
        <p:spPr>
          <a:xfrm>
            <a:off x="406400" y="2743829"/>
            <a:ext cx="43978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Recommendations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3CF8E0B8-B9E5-3975-F834-35ECC0B636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285" y="2799201"/>
            <a:ext cx="6836229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 marketing before peak season (May–June)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Run promotions during low-sales months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 cancellations and returns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Maintain diverse payment options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data tracking for better insights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B145E5-4547-DB09-1817-B5638D2A51AB}"/>
              </a:ext>
            </a:extLst>
          </p:cNvPr>
          <p:cNvSpPr txBox="1"/>
          <p:nvPr/>
        </p:nvSpPr>
        <p:spPr>
          <a:xfrm>
            <a:off x="406400" y="4611829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Final Insight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28B100-428D-453C-8CD1-55D4CFD69B23}"/>
              </a:ext>
            </a:extLst>
          </p:cNvPr>
          <p:cNvSpPr txBox="1"/>
          <p:nvPr/>
        </p:nvSpPr>
        <p:spPr>
          <a:xfrm>
            <a:off x="406400" y="5011939"/>
            <a:ext cx="52251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Focusing on seasonality and operational efficiency can significantly improve revenue stability and growth.</a:t>
            </a:r>
          </a:p>
        </p:txBody>
      </p:sp>
    </p:spTree>
    <p:extLst>
      <p:ext uri="{BB962C8B-B14F-4D97-AF65-F5344CB8AC3E}">
        <p14:creationId xmlns:p14="http://schemas.microsoft.com/office/powerpoint/2010/main" val="16058949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</TotalTime>
  <Words>276</Words>
  <Application>Microsoft Office PowerPoint</Application>
  <PresentationFormat>Widescreen</PresentationFormat>
  <Paragraphs>43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Project 4: data visualization E- commerce sales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2</cp:revision>
  <dcterms:created xsi:type="dcterms:W3CDTF">2026-06-11T13:42:35Z</dcterms:created>
  <dcterms:modified xsi:type="dcterms:W3CDTF">2026-06-11T19:08:02Z</dcterms:modified>
</cp:coreProperties>
</file>